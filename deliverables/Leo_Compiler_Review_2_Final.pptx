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c83c028ed4879" /><Relationship Type="http://schemas.openxmlformats.org/officeDocument/2006/relationships/extended-properties" Target="/docProps/app.xml" Id="Re8f817f341404c0c" /><Relationship Type="http://schemas.openxmlformats.org/officeDocument/2006/relationships/officeDocument" Target="/ppt/presentation.xml" Id="R7df19e201ed346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539a741d7451f"/>
  </p:sldMasterIdLst>
  <p:notesMasterIdLst>
    <p:notesMasterId xmlns:r="http://schemas.openxmlformats.org/officeDocument/2006/relationships" r:id="R73766a458f914b5e"/>
  </p:notesMasterIdLst>
  <p:sldIdLst>
    <p:sldId xmlns:r="http://schemas.openxmlformats.org/officeDocument/2006/relationships" id="256" r:id="R31f7e221a8de45ce"/>
    <p:sldId xmlns:r="http://schemas.openxmlformats.org/officeDocument/2006/relationships" id="257" r:id="R29ac66aa60394ac1"/>
    <p:sldId xmlns:r="http://schemas.openxmlformats.org/officeDocument/2006/relationships" id="258" r:id="R14bdaaa6a13e41b3"/>
    <p:sldId xmlns:r="http://schemas.openxmlformats.org/officeDocument/2006/relationships" id="259" r:id="R35b0388165ef422a"/>
    <p:sldId xmlns:r="http://schemas.openxmlformats.org/officeDocument/2006/relationships" id="260" r:id="Rca3180949e7c4aa3"/>
    <p:sldId xmlns:r="http://schemas.openxmlformats.org/officeDocument/2006/relationships" id="261" r:id="Rf558bac321a94acb"/>
    <p:sldId xmlns:r="http://schemas.openxmlformats.org/officeDocument/2006/relationships" id="262" r:id="Rfff5d6c75adb4c74"/>
    <p:sldId xmlns:r="http://schemas.openxmlformats.org/officeDocument/2006/relationships" id="263" r:id="R1fa0fd36cf0d438e"/>
    <p:sldId xmlns:r="http://schemas.openxmlformats.org/officeDocument/2006/relationships" id="264" r:id="R34f7b798c3674063"/>
    <p:sldId xmlns:r="http://schemas.openxmlformats.org/officeDocument/2006/relationships" id="265" r:id="R5fdc610c024e411b"/>
    <p:sldId xmlns:r="http://schemas.openxmlformats.org/officeDocument/2006/relationships" id="266" r:id="R19431e5a7b9c4388"/>
    <p:sldId xmlns:r="http://schemas.openxmlformats.org/officeDocument/2006/relationships" id="267" r:id="Re153f6538a4e491a"/>
    <p:sldId xmlns:r="http://schemas.openxmlformats.org/officeDocument/2006/relationships" id="268" r:id="R76e3a97885254e2a"/>
    <p:sldId xmlns:r="http://schemas.openxmlformats.org/officeDocument/2006/relationships" id="269" r:id="R212b5479f7d148e9"/>
    <p:sldId xmlns:r="http://schemas.openxmlformats.org/officeDocument/2006/relationships" id="270" r:id="Rb5c730bc72a4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62ceb82544dea" /><Relationship Type="http://schemas.openxmlformats.org/officeDocument/2006/relationships/slideMaster" Target="/ppt/slideMasters/slideMaster1.xml" Id="Rdf2539a741d7451f" /><Relationship Type="http://schemas.openxmlformats.org/officeDocument/2006/relationships/notesMaster" Target="/ppt/notesMasters/notesMaster1.xml" Id="R73766a458f914b5e" /><Relationship Type="http://schemas.openxmlformats.org/officeDocument/2006/relationships/presProps" Target="/ppt/presProps.xml" Id="R93fcb328bd7d469c" /><Relationship Type="http://schemas.openxmlformats.org/officeDocument/2006/relationships/tableStyles" Target="/ppt/tableStyles.xml" Id="Rcd9aff2cc29a486c" /><Relationship Type="http://schemas.openxmlformats.org/officeDocument/2006/relationships/slide" Target="/ppt/slides/slide1.xml" Id="R31f7e221a8de45ce" /><Relationship Type="http://schemas.openxmlformats.org/officeDocument/2006/relationships/slide" Target="/ppt/slides/slide2.xml" Id="R29ac66aa60394ac1" /><Relationship Type="http://schemas.openxmlformats.org/officeDocument/2006/relationships/slide" Target="/ppt/slides/slide3.xml" Id="R14bdaaa6a13e41b3" /><Relationship Type="http://schemas.openxmlformats.org/officeDocument/2006/relationships/slide" Target="/ppt/slides/slide4.xml" Id="R35b0388165ef422a" /><Relationship Type="http://schemas.openxmlformats.org/officeDocument/2006/relationships/slide" Target="/ppt/slides/slide5.xml" Id="Rca3180949e7c4aa3" /><Relationship Type="http://schemas.openxmlformats.org/officeDocument/2006/relationships/slide" Target="/ppt/slides/slide6.xml" Id="Rf558bac321a94acb" /><Relationship Type="http://schemas.openxmlformats.org/officeDocument/2006/relationships/slide" Target="/ppt/slides/slide7.xml" Id="Rfff5d6c75adb4c74" /><Relationship Type="http://schemas.openxmlformats.org/officeDocument/2006/relationships/slide" Target="/ppt/slides/slide8.xml" Id="R1fa0fd36cf0d438e" /><Relationship Type="http://schemas.openxmlformats.org/officeDocument/2006/relationships/slide" Target="/ppt/slides/slide9.xml" Id="R34f7b798c3674063" /><Relationship Type="http://schemas.openxmlformats.org/officeDocument/2006/relationships/slide" Target="/ppt/slides/slide10.xml" Id="R5fdc610c024e411b" /><Relationship Type="http://schemas.openxmlformats.org/officeDocument/2006/relationships/slide" Target="/ppt/slides/slide11.xml" Id="R19431e5a7b9c4388" /><Relationship Type="http://schemas.openxmlformats.org/officeDocument/2006/relationships/slide" Target="/ppt/slides/slide12.xml" Id="Re153f6538a4e491a" /><Relationship Type="http://schemas.openxmlformats.org/officeDocument/2006/relationships/slide" Target="/ppt/slides/slide13.xml" Id="R76e3a97885254e2a" /><Relationship Type="http://schemas.openxmlformats.org/officeDocument/2006/relationships/slide" Target="/ppt/slides/slide14.xml" Id="R212b5479f7d148e9" /><Relationship Type="http://schemas.openxmlformats.org/officeDocument/2006/relationships/slide" Target="/ppt/slides/slide15.xml" Id="Rb5c730bc72a4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d9af1cad3f46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6bb6afe6e42c0" /><Relationship Type="http://schemas.openxmlformats.org/officeDocument/2006/relationships/notesMaster" Target="/ppt/notesMasters/notesMaster1.xml" Id="R90e4b15115cf44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49d902273b467f" /><Relationship Type="http://schemas.openxmlformats.org/officeDocument/2006/relationships/notesMaster" Target="/ppt/notesMasters/notesMaster1.xml" Id="R5be163f904bd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1b2d236d74482" /><Relationship Type="http://schemas.openxmlformats.org/officeDocument/2006/relationships/notesMaster" Target="/ppt/notesMasters/notesMaster1.xml" Id="Re7e045d6ada4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c8e8422914955" /><Relationship Type="http://schemas.openxmlformats.org/officeDocument/2006/relationships/notesMaster" Target="/ppt/notesMasters/notesMaster1.xml" Id="R9ffef042958a4c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e1191994b74fb1" /><Relationship Type="http://schemas.openxmlformats.org/officeDocument/2006/relationships/notesMaster" Target="/ppt/notesMasters/notesMaster1.xml" Id="R18d00c89b0ac4c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510bfaf40443b" /><Relationship Type="http://schemas.openxmlformats.org/officeDocument/2006/relationships/notesMaster" Target="/ppt/notesMasters/notesMaster1.xml" Id="R18f3ef973127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5e024d0abb4580" /><Relationship Type="http://schemas.openxmlformats.org/officeDocument/2006/relationships/notesMaster" Target="/ppt/notesMasters/notesMaster1.xml" Id="R83b37c2d16a84c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fd9e71fc75410d" /><Relationship Type="http://schemas.openxmlformats.org/officeDocument/2006/relationships/notesMaster" Target="/ppt/notesMasters/notesMaster1.xml" Id="R9beb7cd6991f47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473d6255c4fa3" /><Relationship Type="http://schemas.openxmlformats.org/officeDocument/2006/relationships/notesMaster" Target="/ppt/notesMasters/notesMaster1.xml" Id="R8093209762ab48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6ee852f6174889" /><Relationship Type="http://schemas.openxmlformats.org/officeDocument/2006/relationships/notesMaster" Target="/ppt/notesMasters/notesMaster1.xml" Id="R4aea4c9f31da43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e0b8c1871041a7" /><Relationship Type="http://schemas.openxmlformats.org/officeDocument/2006/relationships/notesMaster" Target="/ppt/notesMasters/notesMaster1.xml" Id="Re959271b866047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74e10f604d4e47" /><Relationship Type="http://schemas.openxmlformats.org/officeDocument/2006/relationships/notesMaster" Target="/ppt/notesMasters/notesMaster1.xml" Id="R5d6a52cfd84741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2115f83cdc4196" /><Relationship Type="http://schemas.openxmlformats.org/officeDocument/2006/relationships/notesMaster" Target="/ppt/notesMasters/notesMaster1.xml" Id="R2622aa10c18d4f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9c35ba9ade4b58" /><Relationship Type="http://schemas.openxmlformats.org/officeDocument/2006/relationships/notesMaster" Target="/ppt/notesMasters/notesMaster1.xml" Id="R3304f0df74e144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3180344f3b4265" /><Relationship Type="http://schemas.openxmlformats.org/officeDocument/2006/relationships/notesMaster" Target="/ppt/notesMasters/notesMaster1.xml" Id="Ra1c124796bbc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attached Review Stage 2 PDF. Current naming follows the project language specification: Leo and .leo. Repository: https://github.com/Raymond-Dhakal/leo-clr1-compiler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sections “The Leo Language”, “Two ways to run Leo”, and “Ask questions about the project”; docs/design.md.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language/language_spec.md and examples/08_combined.leo. Example syntax checked against the current Leo language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language/language_spec.md; docs/clr_generator.md. State count and build time are documented for the current repository and were not independently remeasured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docs/design.md. Parser hook details were originally introduced in the supplied Review Stage 2 PDF; current names and grammar are Leo.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docs/design.md. Browser route uses the WebAssembly build and built-in IR interpreter; the terminal native route invokes GCC.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language/language_spec.md, and examples/errors/semantic_errors.leo.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sections on optimizer and examples; docs/design.md. Worked source is a simplified demonstration of documented constant folding.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language/language_spec.md. Commands and code-generation behavior are from current project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rag/README.md, and web/ implementation. RAG requests include user question and retrieved project excerpts; compiler execution remains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attached comp review 2.pdf (Review Stage 2 slides, 2026); README.md (current tree records 500 passed and 856 states). This deck did not rerun tests. Keep the figures separated by source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Makefile. The Q&amp;A endpoint and setup are documented in README.md and rag/README.md.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team and repository sections; directory map checked in the current project. Contributions summarize the documented original module allocation; later integration was collaborative.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limitations and future enhancements; language/language_spec.md.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README.md, language/language_spec.md, docs/design.md, and rag/README.md.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5f30222f244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a4cfe636748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057fa4a7c45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ad2644ec342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3ffc402344a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c0f68732544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87070E-878E-4CE5-BFBB-6F2ED8545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BC4131-0F6E-4401-B276-A83975D0F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B52D67-6DAE-46BC-86A3-43D8FE1E0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A94EB8-8648-41C6-82E8-26DC1DC860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D66BBA-D607-42AE-B835-EE721DED5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DAC3C-BD78-445A-83DF-4CDD664B4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AFEF48-D62C-4CDF-B76D-AE44EAEDF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8F5ABB-BE0B-477B-B000-B532EA36EC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B58DE-5943-4650-884F-62ABC3DB9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CEA9D6-D78A-422D-A54F-378BC9E0D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d7b5fc54142ab" /><Relationship Type="http://schemas.openxmlformats.org/officeDocument/2006/relationships/slideLayout" Target="/ppt/slideLayouts/slideLayout1.xml" Id="Rf695f957dcb64ba3" /><Relationship Type="http://schemas.openxmlformats.org/officeDocument/2006/relationships/slideLayout" Target="/ppt/slideLayouts/slideLayout2.xml" Id="R2ed6df78789d4a22" /><Relationship Type="http://schemas.openxmlformats.org/officeDocument/2006/relationships/slideLayout" Target="/ppt/slideLayouts/slideLayout3.xml" Id="R35783997657d4cac" /><Relationship Type="http://schemas.openxmlformats.org/officeDocument/2006/relationships/slideLayout" Target="/ppt/slideLayouts/slideLayout4.xml" Id="R0eadcbdd65a549d1" /><Relationship Type="http://schemas.openxmlformats.org/officeDocument/2006/relationships/slideLayout" Target="/ppt/slideLayouts/slideLayout5.xml" Id="R110ba05d0e7f45ca" /><Relationship Type="http://schemas.openxmlformats.org/officeDocument/2006/relationships/slideLayout" Target="/ppt/slideLayouts/slideLayout6.xml" Id="R2a17b3f580e44a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95f957dcb64ba3"/>
    <p:sldLayoutId xmlns:r="http://schemas.openxmlformats.org/officeDocument/2006/relationships" id="2147483650" r:id="R2ed6df78789d4a22"/>
    <p:sldLayoutId xmlns:r="http://schemas.openxmlformats.org/officeDocument/2006/relationships" id="2147483651" r:id="R35783997657d4cac"/>
    <p:sldLayoutId xmlns:r="http://schemas.openxmlformats.org/officeDocument/2006/relationships" id="2147483652" r:id="R0eadcbdd65a549d1"/>
    <p:sldLayoutId xmlns:r="http://schemas.openxmlformats.org/officeDocument/2006/relationships" id="2147483653" r:id="R110ba05d0e7f45ca"/>
    <p:sldLayoutId xmlns:r="http://schemas.openxmlformats.org/officeDocument/2006/relationships" id="2147483654" r:id="R2a17b3f580e44a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df45419494c37" /><Relationship Type="http://schemas.openxmlformats.org/officeDocument/2006/relationships/image" Target="/ppt/media/image.jpeg" Id="Rd5dd3093a62746dc" /><Relationship Type="http://schemas.openxmlformats.org/officeDocument/2006/relationships/notesSlide" Target="/ppt/notesSlides/notesSlide1.xml" Id="R7ea71deb8a7f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fe3824da74dd1" /><Relationship Type="http://schemas.openxmlformats.org/officeDocument/2006/relationships/notesSlide" Target="/ppt/notesSlides/notesSlide2.xml" Id="Reba6703c098546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f2d73497144cd" /><Relationship Type="http://schemas.openxmlformats.org/officeDocument/2006/relationships/notesSlide" Target="/ppt/notesSlides/notesSlide3.xml" Id="R2fff636a22c440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003dd57f74efd" /><Relationship Type="http://schemas.openxmlformats.org/officeDocument/2006/relationships/notesSlide" Target="/ppt/notesSlides/notesSlide4.xml" Id="R00b2aa0e34ff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72bb04c244ad8" /><Relationship Type="http://schemas.openxmlformats.org/officeDocument/2006/relationships/notesSlide" Target="/ppt/notesSlides/notesSlide5.xml" Id="R5bdf30bfc32f43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87e50c23a4ea3" /><Relationship Type="http://schemas.openxmlformats.org/officeDocument/2006/relationships/notesSlide" Target="/ppt/notesSlides/notesSlide6.xml" Id="R40049024b2aa45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c4d3c1c184cc2" /><Relationship Type="http://schemas.openxmlformats.org/officeDocument/2006/relationships/notesSlide" Target="/ppt/notesSlides/notesSlide7.xml" Id="Raba755ceb711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6c59a1b4e452c" /><Relationship Type="http://schemas.openxmlformats.org/officeDocument/2006/relationships/notesSlide" Target="/ppt/notesSlides/notesSlide8.xml" Id="R9293438b515e4d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9ea5799fc400d" /><Relationship Type="http://schemas.openxmlformats.org/officeDocument/2006/relationships/notesSlide" Target="/ppt/notesSlides/notesSlide9.xml" Id="R3ef120693f574f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74ca71c67482c" /><Relationship Type="http://schemas.openxmlformats.org/officeDocument/2006/relationships/notesSlide" Target="/ppt/notesSlides/notesSlide10.xml" Id="R1508cd4219db4f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6f492006d45a3" /><Relationship Type="http://schemas.openxmlformats.org/officeDocument/2006/relationships/notesSlide" Target="/ppt/notesSlides/notesSlide11.xml" Id="R08af60f2c6b64c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8affe3d7a4c93" /><Relationship Type="http://schemas.openxmlformats.org/officeDocument/2006/relationships/notesSlide" Target="/ppt/notesSlides/notesSlide12.xml" Id="Rcd22ba96a5e74e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d60b7efaa4c3e" /><Relationship Type="http://schemas.openxmlformats.org/officeDocument/2006/relationships/notesSlide" Target="/ppt/notesSlides/notesSlide13.xml" Id="R243fe1343f6242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d5904664b4889" /><Relationship Type="http://schemas.openxmlformats.org/officeDocument/2006/relationships/notesSlide" Target="/ppt/notesSlides/notesSlide14.xml" Id="R67c6af99c37d45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82aaf7ac541a5" /><Relationship Type="http://schemas.openxmlformats.org/officeDocument/2006/relationships/notesSlide" Target="/ppt/notesSlides/notesSlide15.xml" Id="Rdf13f6b165ee46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9E1C5-BDE9-4AE6-BE72-E489020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38E55-B28B-4094-83B1-4CB6C16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E0D1F-C0D9-41BB-8CC3-CAB3942C2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d3093a62746dc"/>
          <a:stretch xmlns:a="http://schemas.openxmlformats.org/drawingml/2006/main"/>
        </p:blipFill>
        <p:spPr>
          <a:xfrm xmlns:a="http://schemas.openxmlformats.org/drawingml/2006/main">
            <a:off x="8096250" y="621056"/>
            <a:ext cx="3143250" cy="85338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90B1E-47D2-4C64-88F1-0F6A5B5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BCSE307L  /  COMPILER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07169-C2FD-4E3E-87A1-A861C1E8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REVIEW 2  · 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1C8C4-39ED-4546-84AA-5063E21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382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Design and Implementation of a CLR Parser Generator Using Canonical LR(1) Item Sets, Lookahead Propagation, Closure-GOTO Construction and Conflict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53466-E51B-49A2-A7CA-412E106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Extended into the Leo programming language compiler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A15B4-7F17-4CF2-B8B0-C512AE8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1FA25-77FC-4E5B-803C-A8F5301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43"/>
                </a:solidFill>
                <a:latin typeface="Arial"/>
                <a:ea typeface="Arial"/>
                <a:cs typeface="Arial"/>
              </a:rPr>
              <a:t>Gurutheja Kavuturi  ·  Ephraim Immanuel I  ·  Goyal Hemant Anil  ·  Raymond Dhakal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996D-02B5-42A2-B1FD-D8E369F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School of Computer Science and Engineering (SCOPE)  ·  Vellore Institute of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99019-5BDE-4EBD-87A7-F62902AC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Faculty In-Charge: Prof. Vishnu Priya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CF3CE-3A19-4DC1-9903-0EF85A2D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485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1770A-0EE6-4F22-A88D-2312C46B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GRAMMAR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901AC-D883-4C74-953B-44A2FCA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743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3C612-CC55-4583-A207-81942AB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95950"/>
            <a:ext cx="1485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9525">
            <a:solidFill>
              <a:srgbClr val="0B2E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40D40-486F-4822-8D28-05A1C2A3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CLR(1)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7BAF4-58B4-4DE7-9820-2EE4684A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43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353E5-FBCF-49E6-B6E5-C37730A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95950"/>
            <a:ext cx="1485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37ED6-16B9-4496-AC75-0D0AC28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816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B0289-4788-490D-92C3-BC68A8A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743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58383-B090-41A2-A808-316DE613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485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4460A-3156-41D6-A6AC-1609DF9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816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64CE0-3E9C-4FAE-8539-9CDD7D75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743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A9DC8-D879-4C1A-A1A7-EA0EB417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95950"/>
            <a:ext cx="1485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4FB1F-C703-4162-A1DA-0EF50A62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816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A8B2D-57E9-4FD6-A097-2DC690D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github.com/Raymond-Dhakal/leo-clr1-compiler</a:t>
            </a:r>
          </a:p>
        </p:txBody>
      </p:sp>
    </p:spTree>
    <p:extLst>
      <p:ext uri="{BB962C8B-B14F-4D97-AF65-F5344CB8AC3E}">
        <p14:creationId xmlns:p14="http://schemas.microsoft.com/office/powerpoint/2010/main" val="2001028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666CD-A6C1-4968-B6EF-7BD5B89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579F-90DB-4964-AE80-446D369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48ABC-A504-4E1A-B010-DD970AF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The project at a glance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7C716-7704-4EAD-95BC-A0A14B6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46758-8339-40B8-A264-FE2BB7D0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docs/design.md; attached Review Stage 2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44DE-A9AF-45A3-A674-A74D3035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EB107-2F88-4C2F-A64F-6368B26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77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3"/>
                </a:solidFill>
                <a:latin typeface="Arial"/>
                <a:ea typeface="Arial"/>
                <a:cs typeface="Arial"/>
              </a:rPr>
              <a:t>A grammar-driven CLR(1) parser generator now serves as the syntax engine inside a six-phase compiler.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73EF2-0206-429C-8CFC-A249071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6E927-4E2D-4880-90A9-F2E98378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71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3D641-4579-46A2-84E4-2E8F650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Parser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32648-9284-4092-AA28-572124CA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71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Grammar loader, FIRST sets, LR(1) closure and GOTO, canonical states, ACTION/GOTO tables, conflict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C723A-AD6F-49EF-AE72-4D143E57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03BCE-D09E-4A25-B1DF-EA84E58F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571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5C91-DEE0-49BB-B42E-97E50B37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Leo compiler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9A2AE-D7C3-4FE1-A4C6-9CBB23F1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2171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A custom .leo language passes through six phases and can be emitted as C for native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F3E9A-13CD-4109-B20B-1DBCBBD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8C978-3825-4CD4-84CB-2E4BAC0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571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8F3ED-53A5-45DD-A161-31F53173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Browser playground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A0EE5-8DDD-44B8-8CCF-753AAE8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2171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The compiler runs as WebAssembly; users can inspect phase outputs and answer INPUT prompts.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74256-6D42-4C58-B384-AEA4871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27AAA-8B29-46EA-90C0-13FB7EC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571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DCD4C-F080-4E7A-AE0F-39FDD51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Project Q&amp;A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93DB7-7463-4578-A4E5-FB27DC4B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2171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A separate retrieval-backed page answers questions from indexed project sources using Groq.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E593F-92A8-44B6-9B3B-A9C8942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95375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BF3E4"/>
          </a:solidFill>
          <a:ln xmlns:a="http://schemas.openxmlformats.org/drawingml/2006/main" w="9525">
            <a:solidFill>
              <a:srgbClr val="E8D6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272D7-E2CA-46C7-ADD2-939AA3A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Design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687A7-FA2B-467C-884F-2018388D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The language grammar is read at startup. Parser tables are generated from it; they are not hard-coded for Leo.</a:t>
            </a:r>
          </a:p>
        </p:txBody>
      </p:sp>
    </p:spTree>
    <p:extLst>
      <p:ext uri="{BB962C8B-B14F-4D97-AF65-F5344CB8AC3E}">
        <p14:creationId xmlns:p14="http://schemas.microsoft.com/office/powerpoint/2010/main" val="1095574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A0DDB-A27E-4007-9C73-9D74DE08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6E511-1FE9-45F4-8E04-01BC5DD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5D972-93A8-4FDD-8F31-14EFE5FC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Leo is the compiler’s source 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FD549-0303-42A2-9FBC-62F6487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532C-A1E5-432F-9964-78218A11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language/language_spec.md; examples/08_combined.leo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7A0A3-0622-4D66-863F-A695F3B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618AF-2BF1-448A-9981-B2B96763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EXAMPLE 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B80D7-2757-4983-B6C2-3C5B808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5905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95FD-9A1B-4D12-A02A-D22F499A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55816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INT n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INPUT n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INT total &lt;- 0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FOR INT i &lt;- 1 TO n DO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    total &lt;- total + i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END</a:t>
            </a:r>
          </a:p>
          <a:p xmlns:a="http://schemas.openxmlformats.org/drawingml/2006/main">
            <a:pPr algn="l">
              <a:defRPr sz="150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PRINTN "Sum =",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DEBF7-4CD1-4CC0-B852-7259E644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19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LANGUAGE 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32D75-D368-4B68-8BB9-D3F6906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619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2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Types: INT (64-bit), FLOAT, BOOL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2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Control flow: IF / ELSE, WHILE, REPEAT–UNTIL, FOR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2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Assignment uses &lt;-; comments start with #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2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PRINT continues the line; PRINTN adds a newline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2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Only INT → FLOAT converts implicitly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2A676-218F-4778-A23C-8C9AD7B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4619625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EE8CD-1785-4FEE-964A-09FC110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015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Grammar encodes operator precedence and associativity.</a:t>
            </a:r>
          </a:p>
        </p:txBody>
      </p:sp>
    </p:spTree>
    <p:extLst>
      <p:ext uri="{BB962C8B-B14F-4D97-AF65-F5344CB8AC3E}">
        <p14:creationId xmlns:p14="http://schemas.microsoft.com/office/powerpoint/2010/main" val="436785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674C5-182B-4540-A083-F053A7B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021AF-5269-46E7-A719-D68C6AC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FCF3B-437D-4FF1-ADB4-D97842CB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Canonical LR(1) parser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0B20B-76D4-4DFA-9A8A-E98ACDC3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C7118-3F05-4536-B7A6-2F7795F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docs/clr_generator.md; language/grammar.txt; README.md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9BB09-9159-4DC3-98D3-8C631162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C1948-B15E-442B-9141-CEBD353A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51460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C60C5-327A-4EA0-8B03-ABB8C8E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185B6-47F9-48AA-B3DD-13C6A1BC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Load grammar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CD9D7-55A7-4ECE-B6D2-A97D13C9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Read productions, symbols and start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36B50-7F5F-4B78-942A-E66B4A8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DF78B-E824-4117-9CCD-5BC75C89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09725"/>
            <a:ext cx="251460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FD5FF-6238-4977-A96D-2A18EEF6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621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2B0D4-E5ED-4F1C-BEAE-49BB017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43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Compute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0F961-32CD-4EC3-8830-4CE83CF3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Track nullable symbols and terminal lookaheads.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F351E-F8D6-49BB-93BA-84248CB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E3CD5-0742-47B8-A4B2-064DBF2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251460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9525">
            <a:solidFill>
              <a:srgbClr val="0B2E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8E24C-00F7-4092-9416-187605A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0ADCA-D945-41D6-B08A-D9EEF8E5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Closure + GOTO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B985F-CFB7-4090-B5E9-7562BDE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LR(1) items; advance dots across symbols.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9C0F6-D25A-42B7-8595-E5315B6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428E5-96B8-4C23-A4E2-F483C0D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9725"/>
            <a:ext cx="2514600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B8470-CC20-450A-80D9-516C92C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621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ACDFE-A070-43BD-BECE-E1018E9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Build tables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528A2-3B0B-4998-9B5C-F1C076E4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Create canonical states and ACTION/GOTO entries.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0651D-0690-48C2-B5FB-4C80DAF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0953750" cy="1304925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56589-C4A8-4764-A23E-36A6E6A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defPPr>
            <a:lvl1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1pPr>
            <a:lvl2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2pPr>
            <a:lvl3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3pPr>
            <a:lvl4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4pPr>
            <a:lvl5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5pPr>
            <a:lvl6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6pPr>
            <a:lvl7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7pPr>
            <a:lvl8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8pPr>
            <a:lvl9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B2E59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0B2E59"/>
                </a:solidFill>
                <a:latin typeface="Menlo"/>
                <a:ea typeface="Menlo"/>
                <a:cs typeface="Menlo"/>
              </a:rPr>
              <a:t>[A → α · B β, a]  ⇒  add [B → · γ, b] for each b ∈ FIRST(βa)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7EF7E-0F88-434B-A9E2-F5CF699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lookahead is derived from the suffix after B and the item’s inherited lookahead.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79887-99F7-4465-AF00-B240C0C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934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3E4"/>
          </a:solidFill>
          <a:ln xmlns:a="http://schemas.openxmlformats.org/drawingml/2006/main" w="9525">
            <a:solidFill>
              <a:srgbClr val="E8D6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A932FE-BD59-43ED-B0F5-242B8F2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Current repository records 856 states and 0 grammar conflicts; tables are rebuilt at startup (~0.4 s).</a:t>
            </a:r>
          </a:p>
        </p:txBody>
      </p:sp>
    </p:spTree>
    <p:extLst>
      <p:ext uri="{BB962C8B-B14F-4D97-AF65-F5344CB8AC3E}">
        <p14:creationId xmlns:p14="http://schemas.microsoft.com/office/powerpoint/2010/main" val="2038384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05C98-30F4-4510-B4F3-9047BB6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074A5-16F2-4028-B947-FDDAFD62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657B2-F957-4D75-A998-F88C312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Parser integration: syntax becomes an 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50E24-3F69-4C17-934A-4B4F16F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2B2B-F186-4C9A-B81C-984EB2E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docs/design.md; README.md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19B0F-003C-4630-B47A-78E60BA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3B9F1-93B2-4E1B-8285-7F0A211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381250" cy="16764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049D3-B431-4F8F-AEAC-B8E70EE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C3040-4732-4F57-922A-CA4D7C6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Token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67A3B-0BA4-4C40-86AE-90D750F4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Lexer supplies typed tokens with source positions.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32CCA-843A-4D46-A25B-2008E2C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9E9B-ECAD-46D6-B9AE-A86842B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2381250" cy="16764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72722-4C57-41AF-A0DB-8D29EEF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C750D-D260-4540-A319-AEB1D8CB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90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LR driver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7E986-F86F-4463-A7C0-C95F586C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3842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Shift and reduce actions follow generated tables.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7F99F-1246-449C-8B2C-B9937CDD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336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8A42A-D9BD-4FEB-B44A-E2BEFAB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2381250" cy="16764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DBA3C-3674-41A0-B56D-921D902D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58D65-F4F6-4EBD-BBA5-2AAEF2DC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Reduce 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54D18-02F7-4916-858F-87316A2A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Semantic values on the stack build AST nodes.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B749A-DA4B-4200-A3B4-CFD0DFF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B6BEA-23FE-4460-8D22-1FFEA069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381250" cy="16764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E160C-116B-46E9-AAE0-DCA69416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57F20-7702-48D6-BC16-842AAEB3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ECAAB-ED32-494A-97EB-6BDC209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3842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Structured program passed to semantic analysis.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95802-D0B8-433F-8AA8-4BCE316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SAFETY CHECKS AT GRAMMAR STARTUP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DEA18-9411-424A-A236-DD0CF453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4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Every grammar terminal maps to a lexer token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4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Every production has a semantic action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4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Any parse-table conflict is reported and compilation stops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4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Syntax diagnostics include expected tokens and source location</a:t>
            </a:r>
          </a:p>
        </p:txBody>
      </p:sp>
    </p:spTree>
    <p:extLst>
      <p:ext uri="{BB962C8B-B14F-4D97-AF65-F5344CB8AC3E}">
        <p14:creationId xmlns:p14="http://schemas.microsoft.com/office/powerpoint/2010/main" val="1257068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BF17BD-2C86-4707-B16D-067595DE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37183-FE09-47AA-B386-EE944D1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E2D2B-2C76-4FF3-B940-E0FAEF6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Six compiler phases, then a target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AD875-ECFE-44A7-AC12-D22E7F6F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929F-B1B1-4853-9461-F21506A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docs/design.md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853EC-934D-4641-B90B-009324F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5F559-40FA-4E72-B87F-7BD2BC5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51E4A-B9B6-4D7E-9B6C-20FB2117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3D318-917B-447F-B22A-E81558CD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Lexical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1D32A-EF3A-4F40-BA4D-E750CD16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9CB1E-6C0A-43BC-96D6-FBF8FF5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38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5E518-6129-4916-9A51-9703B0A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9525">
            <a:solidFill>
              <a:srgbClr val="0B2E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67FF2-E976-40C8-A0D2-474670B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9C5A5-32ED-4760-A63F-4A59D020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CLR(1) parsing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B5C64-4A72-48BD-AEAD-9B7978C5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FAA3A-7322-45F2-8674-9414224F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38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77AC1-5C13-4767-85FC-8CB5E439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75E6B-423C-4111-964F-52BFF0CD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09B1D-5935-47CA-A097-446FB30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Semantic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4EDC9-EA8B-4199-A041-D574ED9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Typed 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E45F1-7318-4538-8BE0-465F1C9B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8813E-341E-4BC3-A74A-2E39864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DAB94-850C-4FBC-80E8-2A23FEF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CCB89-F4FD-480A-BA90-61D2480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IR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63B31-4C0D-4D48-B27C-3EA5D23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Three-address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E341B-3FD9-4C8C-8AD8-5724ADC7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38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44770-C656-4DD8-A13D-74F29E3A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7671C-53C4-46B6-BB34-EF388804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97F3E-346E-4F66-A555-3B779374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26233-D2EC-47BC-BCB6-A4207CB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Optimized 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0B2675-F737-484F-8AC2-BAD219CE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38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C974D-D764-4DD0-8FCE-E3FB73E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0"/>
            <a:ext cx="1714500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1B9A6-88D0-4BED-B29E-34A81F48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8573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D1EB78-717A-4CBE-9432-2EC571A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247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 generation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4D2207-86BC-42A9-B2F7-B022662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81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9433FF-19D6-4B60-8EC9-061EBDD1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CA454-EDDC-47E1-8C85-A853B832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3714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C3356A-E9D3-4A92-AF16-0D23715E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CF0CC8-5908-47B5-9B9F-32FAB58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576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Native route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B8A33E-D615-4E42-A07D-900B368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2915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Generated C → GCC → executable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Use --run to execute the program.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48E90-0D29-4DF3-B282-3C7E9CE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95750"/>
            <a:ext cx="3714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99A45F-8625-43D0-97C5-F065426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9575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BAB5B-DD75-444E-A1B4-DA826145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Interpreter route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0416F8-1FD2-417E-A3BD-32F2A3A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IR interpreter runs without GCC; used by the browser build.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646724-74D1-405D-8C90-7A426E5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A failed phase stops later phases and returns a phase-specific status.</a:t>
            </a:r>
          </a:p>
        </p:txBody>
      </p:sp>
    </p:spTree>
    <p:extLst>
      <p:ext uri="{BB962C8B-B14F-4D97-AF65-F5344CB8AC3E}">
        <p14:creationId xmlns:p14="http://schemas.microsoft.com/office/powerpoint/2010/main" val="1423620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3EB05-3106-4D26-B880-3709A383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BF48B-500D-4122-AC87-180A81E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5F6B4-5A9E-4979-B301-21310B7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Front end: tokens, syntax and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41D9D-A146-4E1F-BFDE-1EEAD5A4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508F9-F889-4076-B9F8-F8FF809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language/language_spec.md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9498-1CC0-494A-A4DC-B24ADC3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EA858-36CE-486F-A5C3-A7A6A9FA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5ED0A-8CD5-4A41-AB2E-58EC1BA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Lexical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E99DD-8B8F-46DD-BAD4-B5AF4CB4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13156-B0E5-4E90-9A48-D58FB105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333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Recognizes keywords, identifiers, literals and operators.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Records line and column.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Reports malformed numbers and unknown characters.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2403B-1E4E-46FE-9DF0-851FB16A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282F1-CA57-44B1-8006-7EFC07B8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Syntax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4D238-6E70-428A-A457-C35946C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717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FCAC0-DC88-4577-ACFB-475730AE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333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Runs the generated CLR(1)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Builds AST nodes during reductions.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Syntax errors list expected tokens.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67B84-3789-42BB-84CC-3209039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C8403-4332-41FC-815F-4A53E28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Semantic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16A77-EC67-43C1-BA9A-A9236758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0A64E-2D61-498C-9B7D-233B27D4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33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Checks declarations, scopes, types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Allows INT → FLOAT widening.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Reports phase errors before 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4969F-2725-4ACD-AE7A-0D9B3DE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9061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59031-F6EC-4C4A-B360-2189DACB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2E59"/>
                </a:solidFill>
                <a:latin typeface="Arial"/>
                <a:ea typeface="Arial"/>
                <a:cs typeface="Arial"/>
              </a:rPr>
              <a:t>Example diagnostic: “IF condition must be BOOL” points to the source expression and suggests a comparison.</a:t>
            </a:r>
          </a:p>
        </p:txBody>
      </p:sp>
    </p:spTree>
    <p:extLst>
      <p:ext uri="{BB962C8B-B14F-4D97-AF65-F5344CB8AC3E}">
        <p14:creationId xmlns:p14="http://schemas.microsoft.com/office/powerpoint/2010/main" val="1131582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289A1-2ECF-441E-8C8A-85609446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E22BD-49B7-4166-A97D-F72001B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8378-314C-46EB-8EF5-9B9942D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Typed IR makes optimization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B6F35-04D4-436B-9ABD-F131CB2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658DF-AB4F-4E78-A856-CDC555DE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examples/02_precedence.leo; docs/design.md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2F4D1-9315-4A21-B8CE-96A2024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3564-8E79-4433-A638-74BF2F5F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LEO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5644-F4FE-4EB2-AEEF-37F242D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0289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CBF4E-68F3-4B59-85CF-1E0092F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19275"/>
            <a:ext cx="27051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INT x</a:t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x &lt;- (10 + 5) * 2</a:t>
            </a:r>
          </a:p>
          <a:p xmlns:a="http://schemas.openxmlformats.org/drawingml/2006/main">
            <a:pPr algn="l">
              <a:defRPr sz="142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PRINTN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C95C9-907A-408B-A081-D55F01B7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2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THREE-ADDRESS 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3F8C0-A8E4-4B8C-8BC8-19B7364A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2D02B-08E4-4452-A85F-037F5C4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19275"/>
            <a:ext cx="30099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t1 = 10 + 5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t2 = t1 * 2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x = t2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PRINTN 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BAAF4-5F99-401D-AEE2-3BF5B46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239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OPTIMIZED 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11492-8646-41DB-8EC4-2544D456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A3CDC-113E-4E8F-BE20-B68DB86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19275"/>
            <a:ext cx="29146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PRINTN 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F2450-BD80-4722-A664-1B34D03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Optimization passes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0EB33-1F4F-4906-A244-0BB79372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476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Constant propagation and folding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Algebraic simplification and local copies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Constant branches and unreachable code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Dead-code elimination and temporary forwarding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98A97-AF25-4A4D-9844-2C13A37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Safety 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E7810-C287-442E-A2E9-F50022F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4762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Preserve divide and MOD errors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Keep INPUT observable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Do not fold unsafe floating-point identities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Match INT wraparound behavior</a:t>
            </a:r>
          </a:p>
        </p:txBody>
      </p:sp>
    </p:spTree>
    <p:extLst>
      <p:ext uri="{BB962C8B-B14F-4D97-AF65-F5344CB8AC3E}">
        <p14:creationId xmlns:p14="http://schemas.microsoft.com/office/powerpoint/2010/main" val="2068282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CEE1D-FDE6-427E-BD31-35F6716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2CC3A-1E92-469E-8581-F4D4EED2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66C55-1A6C-4312-AEE8-9FA49CC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 code generation and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F4FAB-391D-4EE8-B241-4817FE2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3D6F7-285B-46A6-9318-24646964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language/language_spec.md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38711-D1F0-47A5-B90F-8026415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2A75B-F704-49C8-824D-CD5487C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43"/>
                </a:solidFill>
                <a:latin typeface="Arial"/>
                <a:ea typeface="Arial"/>
                <a:cs typeface="Arial"/>
              </a:rPr>
              <a:t>IR is lowered to portable C helpers and statements. GCC is invoked only when a native executable is requested.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0FE7D-F983-4C86-B960-3F0CC7BF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9525">
            <a:solidFill>
              <a:srgbClr val="0B2E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5725B-1DD0-44FD-8F81-94E337D0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F58A7-E222-4B5D-A6B2-B76673F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long long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DB268-A9B0-42C8-8920-B289202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24075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91983-F30D-4277-A047-334C6DCD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764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671C5-883E-49CA-BEA6-79AF959E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289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→ double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F0910-9CA4-4B6D-86A0-58ECAB47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24075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87222-7F54-4044-8F31-22C9D4B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D27DB-2369-4EA7-A929-E888AED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→ 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57370-1B89-4DC1-A4E7-0CDA984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TYPICAL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8CDB1-2842-4960-BEF8-CF044B31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572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4AAB0-9068-4BBC-AD1F-D199A74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71925"/>
            <a:ext cx="6248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examples/08_combined.leo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./output/08_combined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--run &lt; input.txt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--interp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CC6B0-2CD5-4D68-8ECB-F26D3DB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GCC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AC985-7B45-45CA-8B69-A752DCE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314"/>
          </a:bodyPr>
          <a:lstStyle xmlns:a="http://schemas.openxmlformats.org/drawingml/2006/main">
            <a:def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Uses fork/execvp with an argument vector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No shell command string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Generated output goes to an output directory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3"/>
                </a:solidFill>
                <a:latin typeface="Arial"/>
                <a:ea typeface="Arial"/>
                <a:cs typeface="Arial"/>
              </a:rPr>
              <a:t>Execution requires explicit --run or --interp</a:t>
            </a:r>
          </a:p>
        </p:txBody>
      </p:sp>
    </p:spTree>
    <p:extLst>
      <p:ext uri="{BB962C8B-B14F-4D97-AF65-F5344CB8AC3E}">
        <p14:creationId xmlns:p14="http://schemas.microsoft.com/office/powerpoint/2010/main" val="435219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D3E78-713A-4DD4-9FC8-5654094A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EB4D9-3FF6-487E-B390-3D0BD812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41722-F038-4528-92EB-253EAB1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Two browser features, with separate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8C3A0-A140-4CCF-8FFB-C3164608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3F9EE-3491-4276-817C-A27DC94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rag/README.md; web/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017AA-BD8A-49E1-A966-F6A6199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61B4-79D3-4FE3-9D37-18E7C6E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67529-4CEF-4125-8122-1C4599F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5AA5-EE4A-428E-8D62-586DFCA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Leo Playground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239F4-4F50-4B8C-AA75-91803481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769AA"/>
                </a:solidFill>
                <a:latin typeface="Menlo"/>
                <a:ea typeface="Menlo"/>
                <a:cs typeface="Menlo"/>
              </a:rPr>
              <a:t>localhost:8000/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F15D-942B-4829-A316-AE7C9E6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46863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Static editor with examples and Run action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Compiler compiled to WebAssembly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Shows tokens, AST, IR, optimized IR and C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Runs IR interpreter; INPUT can pause for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69BA6-0B02-4468-A38F-0426102B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Compiler / learning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EFC4D-F871-410D-9AD6-EB4D151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286375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21B41-5B52-40D6-9F70-0C35CAF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28637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488E0-BF99-4DDB-8F65-704FCDFF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62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Q&amp;A (RAG)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886B7-A306-4716-8A06-B5FAC955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4312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769AA"/>
                </a:solidFill>
                <a:latin typeface="Menlo"/>
                <a:ea typeface="Menlo"/>
                <a:cs typeface="Menlo"/>
              </a:rPr>
              <a:t>localhost:8000/ask.html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8411C-1840-4808-9D4C-1415C1F8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46863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Indexes selected source and documentation locally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Retrieves relevant chunks for each question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Sends the question and excerpts to Groq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000"/>
              </a:spcAft>
              <a:buNone/>
              <a:defRPr sz="1425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3"/>
                </a:solidFill>
                <a:latin typeface="Arial"/>
                <a:ea typeface="Arial"/>
                <a:cs typeface="Arial"/>
              </a:rPr>
              <a:t>API key stays on the local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641EC-CF49-4E8A-95EF-9EA3C5DA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149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Documentation assistant; separate from compilation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0EC19-AE75-4859-B920-C84B000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The compiler and playground do not send Leo source to Groq.</a:t>
            </a:r>
          </a:p>
        </p:txBody>
      </p:sp>
    </p:spTree>
    <p:extLst>
      <p:ext uri="{BB962C8B-B14F-4D97-AF65-F5344CB8AC3E}">
        <p14:creationId xmlns:p14="http://schemas.microsoft.com/office/powerpoint/2010/main" val="2096574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2330E-9D25-4971-B441-72619AA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67BDE-5C2A-46B8-9CD7-A85AD2EB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D146F-A09B-470C-B1DC-EB8D842B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Validation figures: preserve their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C549C-6636-4E5D-AC17-D324EEC9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159B8-4D05-4EF5-8EE8-EC560202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attached Review Stage 2 PDF; current README.md and language/language_spec.md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88D83-B62A-40BB-89B1-8F2DE901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99ECE-815D-4F22-9F84-2061DE4B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3"/>
                </a:solidFill>
                <a:latin typeface="Arial"/>
                <a:ea typeface="Arial"/>
                <a:cs typeface="Arial"/>
              </a:rPr>
              <a:t>The source slide deck and the current repository describe different project snapshots.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CB895-D9EF-4471-877A-26A4B390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4762500" cy="2162175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75F05-D07C-4BD0-ACCC-7A4B09A6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57150" cy="2162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5A85D-C226-4B70-BDE2-EAA4CB4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Supplied Review 2 slides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72A2C-C91E-421C-B487-1BA4631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43624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391 CLR(1) states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298 / 298 tests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277 / 277 sanitizer checks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280 differential fuzz programs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0B4BE-7123-46D3-9190-EDCB021D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4762500" cy="2162175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26EAD-55A9-422A-8714-9EF3A78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57150" cy="2162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F41CC-546C-48DA-8C2B-0D7C435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Current repository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4039B-A9B6-417A-BFAC-68ED8D48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62225"/>
            <a:ext cx="43624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856 CLR(1) states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500 passed, 0 failed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0 grammar conflicts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AE258-5ED1-4332-9F3D-E37C2A2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47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F3E4"/>
          </a:solidFill>
          <a:ln xmlns:a="http://schemas.openxmlformats.org/drawingml/2006/main" w="9525">
            <a:solidFill>
              <a:srgbClr val="E8D6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B307B-5969-437F-951D-6781158C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These are not directly comparable runs.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3B517-D6A0-4B7F-9026-8F07193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The figures on the right are repository documentation, not a fresh test run for this presentation. Re-run the current suite before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900837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F8189-3782-4CD3-86E9-5DD0645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C6279-387F-4E90-9B79-9DF5F1A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4F57-1F5B-4AD5-8D16-6465BCE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Build and inspect from the command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90725-DB2D-4DBC-B726-F8AABA4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534AA-52DD-40E3-B4F1-814B890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Makefile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BCFF3-749F-4775-915D-A5444D2D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EBF3-A912-497E-A743-2324912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BUILD AND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0E826-473F-4ECF-87D0-FBBE8FCC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1910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E5F18-00A5-4A70-830E-4BDA68A3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38325"/>
            <a:ext cx="38671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make</a:t>
            </a:r>
          </a:p>
          <a:p xmlns:a="http://schemas.openxmlformats.org/drawingml/2006/main">
            <a:pPr algn="l">
              <a:defRPr sz="1575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make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7F06F-2DAA-496E-862A-774EB7B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Builds leoc and clr_parser; `make test` runs the documented project test suite.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0F8D9-E64E-4CC6-8469-65E7199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525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INSPECT COMPILER PHASES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8964-AEE3-47A0-B7DA-FCCC9B5B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95450"/>
            <a:ext cx="6000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D7882-C0A1-4271-B74E-1F6ECBB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38325"/>
            <a:ext cx="5676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--tokens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--ast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--typed-ast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--ir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--opt-ir</a:t>
            </a:r>
          </a:p>
          <a:p xmlns:a="http://schemas.openxmlformats.org/drawingml/2006/main">
            <a:pPr algn="l">
              <a:defRPr sz="1350" b="0">
                <a:solidFill>
                  <a:srgbClr val="172B4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B43"/>
                </a:solidFill>
                <a:latin typeface="Menlo"/>
                <a:ea typeface="Menlo"/>
                <a:cs typeface="Menlo"/>
              </a:rPr>
              <a:t>./leoc prog.leo --emit-c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051EF-ED7A-4557-A5F9-B96E64B9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0715625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C876D-4332-4191-BE57-DFC86A8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Run locally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AD36A-D455-4B42-97F4-26476DD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69AA"/>
                </a:solidFill>
                <a:latin typeface="Menlo"/>
                <a:ea typeface="Menlo"/>
                <a:cs typeface="Menlo"/>
              </a:rPr>
              <a:t>make serve  →  http://localhost:8000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8E3ED-57A2-4798-B2E6-73A079A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863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Project Q&amp;A: /ask.html  ·  Needs Python dependencies and GROQ_API_KEY in root .env</a:t>
            </a:r>
          </a:p>
        </p:txBody>
      </p:sp>
    </p:spTree>
    <p:extLst>
      <p:ext uri="{BB962C8B-B14F-4D97-AF65-F5344CB8AC3E}">
        <p14:creationId xmlns:p14="http://schemas.microsoft.com/office/powerpoint/2010/main" val="18850565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A4A32E-DA04-471A-85F6-0DBA121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BF551-E4FE-40D5-8F80-E0C5DF2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2A4F1-DB59-4170-9809-F3801E7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Project structure and team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6F06-26A5-4FD6-8F90-684B3C90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3BA4F-FA13-4A05-8B92-69EB90E5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include/ and src/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ADAA4-8B28-4AED-B22F-7FF07BC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D995B-E5A9-453D-8454-E2462D1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5633F-B749-46A8-BB08-900F5334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Gurutheja Kavuturi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1E955-4D38-40DD-BFDE-2E9F389F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Grammar engine and lexer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058DC-F22A-4668-B5F7-0CBB1B74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8E7C7-0EF7-4E96-9926-68F2CBEF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Ephraim Immanuel 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4A744-5313-40BC-BF01-BAE74213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FIRST sets and lookahead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A00D3-ACD9-43F4-B2E2-13EE3257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C9921-6845-4EED-97BA-DE084B7B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Goyal Hemant Anil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6FA88-A8F6-40E3-B598-6EB9EC38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LR(1) items, closure and GOTO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DAB6B-0157-4633-BE9A-BF81AB98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E59"/>
          </a:solidFill>
          <a:ln xmlns:a="http://schemas.openxmlformats.org/drawingml/2006/main" w="9525">
            <a:solidFill>
              <a:srgbClr val="0B2E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46762-203A-4751-A20E-8306828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Raymond Dhakal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6D82F-A425-4CCC-BD5C-0E712ED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 collection, tables, conflicts and parser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6D464-DFCE-4523-AA3B-76214330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382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REPOSITORY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F0681-620D-4A66-B13D-46424EA4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src/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3720C-E3E1-4B43-8A81-4CFA3520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CLR(1)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32FF5-D368-47DE-9449-E50AB49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2B74D-EB3D-4681-9BD2-E13D9C8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src/compiler/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1C30F-470B-4B63-A47E-9ABB90FE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955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Leo front end and 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9C760-064E-47BA-B88A-BFFA08DE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B745D-96F2-444F-9774-9F83A9E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language/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6DE0C-16C8-495F-BD49-6330FCB1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grammar and language specification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6BE18-F6AA-4079-8F98-5821538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EB9EA-312D-40C9-8F0C-96B94483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examples/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88C2FC-DF35-4204-BEB0-EED2256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10 example programs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C5748-95B1-4335-9C93-CEB22969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147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E48A5-6E1B-4C8E-A3A2-DE5DFC1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web/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7D8929-6D0D-4387-AE72-8B61994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playground and WebAssembly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C4BE7F-4D77-49BC-9784-07E1D982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360C79-1A48-433C-92D5-8828665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8622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rag/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868D0-0222-46BA-A803-1D705072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indexing, retrieval and 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B60EF5-2800-4C4F-B2E9-79CCB6A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F3699-EEFC-42BC-95A6-E647517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tests/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46DECE-C388-4C0C-8BEE-81BD902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test runner, cases and fuzzing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F57145-F44B-4BF8-BA7C-B9F480D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ACC8D7-FEAB-45BC-BFD4-AA765F9F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8157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69A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9AA"/>
                </a:solidFill>
                <a:latin typeface="Menlo"/>
                <a:ea typeface="Menlo"/>
                <a:cs typeface="Menlo"/>
              </a:rPr>
              <a:t>docs/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0BD0D1-702C-4EA3-9AAC-9FC09BC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81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3"/>
                </a:solidFill>
                <a:latin typeface="Arial"/>
                <a:ea typeface="Arial"/>
                <a:cs typeface="Arial"/>
              </a:rPr>
              <a:t>design and generator notes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6F7B96-2513-43EA-9AF3-37865BB7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054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0986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E9145-F809-4165-829B-5EDCAE4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469B-AE43-42FC-9CFD-78D16F19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3A6F8-81F1-437D-8ADE-B9AB41F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Current limits and next engineering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FCB91-207F-4932-A4C7-EA25471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7F566-B168-4C8F-AAF4-9EBE2F4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Source: README.md; docs/design.md; language/language_spec.md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8CDBB-93FB-4801-AB5C-A4CA868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96272-B87D-49B3-9322-BE6F0C6B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84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4545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07AF3-E995-4C63-92D2-BCEE242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Parser stops at the first syntax error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No arrays, functions or string-valued variables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Native build needs GCC or a compatible C compiler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Canonical parser tables are rebuilt for each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FB6F-64B9-4ADC-8448-531E412F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389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9DD71-B6CF-4C60-A6F6-87D002D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0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PLANNED EXTENSIONS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82462-E829-435A-BC45-0BBEF484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Panic-mode syntax recovery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Cache grammar tables between runs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Grow the language with arrays, functions and strings</a:t>
            </a:r>
          </a:p>
          <a:p xmlns:a="http://schemas.openxmlformats.org/drawingml/2006/main">
            <a:pPr marL="241300" indent="-127000">
              <a:lnSpc>
                <a:spcPct val="108000"/>
              </a:lnSpc>
              <a:spcAft>
                <a:spcPts val="1300"/>
              </a:spcAft>
              <a:buNone/>
              <a:defRPr sz="1500">
                <a:solidFill>
                  <a:srgbClr val="17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3"/>
                </a:solidFill>
                <a:latin typeface="Arial"/>
                <a:ea typeface="Arial"/>
                <a:cs typeface="Arial"/>
              </a:rPr>
              <a:t>Visualize parse trees and compare state counts with LALR(1)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38C87-87AE-42D6-9F7D-AF61729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3E4"/>
          </a:solidFill>
          <a:ln xmlns:a="http://schemas.openxmlformats.org/drawingml/2006/main" w="9525">
            <a:solidFill>
              <a:srgbClr val="E8D6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A15F1-6BE1-48B5-A393-2FF931B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2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E59"/>
                </a:solidFill>
                <a:latin typeface="Arial"/>
                <a:ea typeface="Arial"/>
                <a:cs typeface="Arial"/>
              </a:rPr>
              <a:t>Future work listed here is not claimed as implemented.</a:t>
            </a:r>
          </a:p>
        </p:txBody>
      </p:sp>
    </p:spTree>
    <p:extLst>
      <p:ext uri="{BB962C8B-B14F-4D97-AF65-F5344CB8AC3E}">
        <p14:creationId xmlns:p14="http://schemas.microsoft.com/office/powerpoint/2010/main" val="2084799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E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E2875-CB21-4CA3-BD39-58B0AE1E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05F8-02DC-40D7-83DA-673FCC5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2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894ED-4BC2-4160-A4F1-94AF6F45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D8E7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E7F6"/>
                </a:solidFill>
                <a:latin typeface="Arial"/>
                <a:ea typeface="Arial"/>
                <a:cs typeface="Arial"/>
              </a:rPr>
              <a:t>The CLR(1) generator is the working syntax core of a complete Leo compiler.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F1097-D9CE-4C9E-BB68-771A952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42882-37F5-46E5-BB23-EF2992D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 LR(1)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6E2E-7364-49C4-878F-45F5C603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7F6"/>
                </a:solidFill>
                <a:latin typeface="Arial"/>
                <a:ea typeface="Arial"/>
                <a:cs typeface="Arial"/>
              </a:rPr>
              <a:t>Grammar-driven states, tables and conflict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5B8CE-5EF4-42E8-B043-10B9389E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7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AF2CD-487B-4FC1-9ECE-8D503FD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489F-121F-4C0C-BDB8-DDAD070D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19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Six compiler phases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1E136-75A2-4A6C-BE5A-506EEC0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7F6"/>
                </a:solidFill>
                <a:latin typeface="Arial"/>
                <a:ea typeface="Arial"/>
                <a:cs typeface="Arial"/>
              </a:rPr>
              <a:t>Leo source → AST → typed IR → optimized IR →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AE66A-D6DA-4BF4-8C91-8901BCE1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3E02F-5D4B-453D-8328-7806A64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55413-B4FE-4C06-AE64-7951C182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00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user-facing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C88AF-6077-447D-AB8A-78E571F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7F6"/>
                </a:solidFill>
                <a:latin typeface="Arial"/>
                <a:ea typeface="Arial"/>
                <a:cs typeface="Arial"/>
              </a:rPr>
              <a:t>Web playground for programs; RAG page for project Q&amp;A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2196F-CF98-49FB-9403-41A5D0E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7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BE253-F5E4-4522-810C-0BC6AEDE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5A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A4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2ADAA-8F01-4EA8-9FB0-CAAC7E8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81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with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65E82-6982-465D-9C99-FF0DD0DE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81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7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7F6"/>
                </a:solidFill>
                <a:latin typeface="Arial"/>
                <a:ea typeface="Arial"/>
                <a:cs typeface="Arial"/>
              </a:rPr>
              <a:t>Current repository figures are kept distinct from the earlier review 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D4313-72AB-4ED6-A77E-9480A7A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7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0AE60-F43C-4443-BDAB-A15B712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  · 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95273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2026-10-25T17:29:53.5220000Z</dcterms:created>
  <dcterms:modified xsi:type="dcterms:W3CDTF">2026-10-25T17:29:53.5230000Z</dcterms:modified>
</coreProperties>
</file>